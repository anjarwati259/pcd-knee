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3" r:id="rId5"/>
    <p:sldId id="264" r:id="rId6"/>
    <p:sldId id="266" r:id="rId7"/>
    <p:sldId id="267" r:id="rId8"/>
    <p:sldId id="268" r:id="rId9"/>
    <p:sldId id="269" r:id="rId10"/>
    <p:sldId id="273" r:id="rId11"/>
    <p:sldId id="275" r:id="rId12"/>
    <p:sldId id="278" r:id="rId13"/>
    <p:sldId id="280" r:id="rId14"/>
    <p:sldId id="281" r:id="rId15"/>
    <p:sldId id="283" r:id="rId16"/>
    <p:sldId id="284" r:id="rId17"/>
    <p:sldId id="285" r:id="rId18"/>
    <p:sldId id="287" r:id="rId19"/>
    <p:sldId id="289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JSN (%)</c:v>
                </c:pt>
              </c:strCache>
            </c:strRef>
          </c:tx>
          <c:spPr>
            <a:solidFill>
              <a:srgbClr val="B0B0B0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8</c:v>
                </c:pt>
                <c:pt idx="2">
                  <c:v>35</c:v>
                </c:pt>
                <c:pt idx="3">
                  <c:v>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8A-4601-95EC-F81CBD84D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JSW turun, diukur ulang (%)</c:v>
                </c:pt>
              </c:strCache>
            </c:strRef>
          </c:tx>
          <c:spPr>
            <a:solidFill>
              <a:srgbClr val="D96C06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5.8</c:v>
                </c:pt>
                <c:pt idx="2">
                  <c:v>33.299999999999997</c:v>
                </c:pt>
                <c:pt idx="3">
                  <c:v>55.6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58A-4601-95EC-F81CBD84D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6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7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9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8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3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0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7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8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7824"/>
            <a:ext cx="8961120" cy="508406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D" sz="1800"/>
          </a:p>
        </p:txBody>
      </p:sp>
      <p:sp>
        <p:nvSpPr>
          <p:cNvPr id="3" name="Shape 1"/>
          <p:cNvSpPr/>
          <p:nvPr/>
        </p:nvSpPr>
        <p:spPr>
          <a:xfrm>
            <a:off x="11347704" y="658368"/>
            <a:ext cx="164592" cy="16459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D" sz="1800"/>
          </a:p>
        </p:txBody>
      </p:sp>
      <p:sp>
        <p:nvSpPr>
          <p:cNvPr id="4" name="Shape 2"/>
          <p:cNvSpPr/>
          <p:nvPr/>
        </p:nvSpPr>
        <p:spPr>
          <a:xfrm>
            <a:off x="685800" y="6035040"/>
            <a:ext cx="164592" cy="16459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D" sz="180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731520" y="1417320"/>
            <a:ext cx="10058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b="1" kern="0" spc="1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1463040" y="4114800"/>
            <a:ext cx="8595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b="1" kern="0" spc="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3118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0"/>
            <a:ext cx="11347704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0"/>
            <a:ext cx="0" cy="2514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347704" y="658368"/>
            <a:ext cx="164592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1600200" y="384048"/>
            <a:ext cx="9418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kern="0" spc="1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511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4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12215" y="884286"/>
            <a:ext cx="14135585" cy="5089427"/>
            <a:chOff x="0" y="0"/>
            <a:chExt cx="1128752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752" cy="406400"/>
            </a:xfrm>
            <a:custGeom>
              <a:avLst/>
              <a:gdLst/>
              <a:ahLst/>
              <a:cxnLst/>
              <a:rect l="l" t="t" r="r" b="b"/>
              <a:pathLst>
                <a:path w="1128752" h="406400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pPr defTabSz="609630"/>
              <a:endParaRPr lang="en-ID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800" y="6006540"/>
            <a:ext cx="165660" cy="16566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 defTabSz="609630"/>
              <a:endParaRPr lang="en-ID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40540" y="685800"/>
            <a:ext cx="165660" cy="16566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 defTabSz="609630"/>
              <a:endParaRPr lang="en-ID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1718" y="1400068"/>
            <a:ext cx="10803854" cy="433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733"/>
              </a:lnSpc>
            </a:pPr>
            <a:r>
              <a:rPr lang="en-US" sz="2666" b="1" spc="133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ALUR METODE USULAN: STAGE 1 – STAGE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4150" y="5388085"/>
            <a:ext cx="8247833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46"/>
              </a:lnSpc>
            </a:pPr>
            <a:r>
              <a:rPr lang="en-US" sz="1533" b="1" spc="153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RETNO ANJARWATI | 6025251001</a:t>
            </a:r>
          </a:p>
        </p:txBody>
      </p:sp>
      <p:sp>
        <p:nvSpPr>
          <p:cNvPr id="13" name="Freeform 13"/>
          <p:cNvSpPr/>
          <p:nvPr/>
        </p:nvSpPr>
        <p:spPr>
          <a:xfrm>
            <a:off x="1" y="0"/>
            <a:ext cx="1726743" cy="971293"/>
          </a:xfrm>
          <a:custGeom>
            <a:avLst/>
            <a:gdLst/>
            <a:ahLst/>
            <a:cxnLst/>
            <a:rect l="l" t="t" r="r" b="b"/>
            <a:pathLst>
              <a:path w="2590115" h="1456940">
                <a:moveTo>
                  <a:pt x="0" y="0"/>
                </a:moveTo>
                <a:lnTo>
                  <a:pt x="2590115" y="0"/>
                </a:lnTo>
                <a:lnTo>
                  <a:pt x="2590115" y="1456940"/>
                </a:lnTo>
                <a:lnTo>
                  <a:pt x="0" y="1456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69" b="-7269"/>
            </a:stretch>
          </a:blipFill>
        </p:spPr>
        <p:txBody>
          <a:bodyPr/>
          <a:lstStyle/>
          <a:p>
            <a:pPr defTabSz="609630"/>
            <a:endParaRPr lang="en-ID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44150" y="4986210"/>
            <a:ext cx="8247833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46"/>
              </a:lnSpc>
            </a:pPr>
            <a:r>
              <a:rPr lang="en-US" sz="1533" b="1" spc="153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PENGOLAHAN CITRA DIGITAL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2C0354D3-E989-CCAA-E37E-1016B63FFD7A}"/>
              </a:ext>
            </a:extLst>
          </p:cNvPr>
          <p:cNvSpPr txBox="1"/>
          <p:nvPr/>
        </p:nvSpPr>
        <p:spPr>
          <a:xfrm>
            <a:off x="1245712" y="3007425"/>
            <a:ext cx="824783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46"/>
              </a:lnSpc>
            </a:pPr>
            <a:r>
              <a:rPr lang="en-US" sz="1533" b="1" spc="153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Penilaian keparahan OA </a:t>
            </a:r>
            <a:r>
              <a:rPr lang="en-US" sz="1533" b="1" spc="153" dirty="0" err="1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lutut</a:t>
            </a:r>
            <a:r>
              <a:rPr lang="en-US" sz="1533" b="1" spc="153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 berbasis anatomi: lokalisasi sendi, memory bank per lokasi, OA sintetis, dan DRA-OA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Gambaran besar metode usulan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00200" cy="228600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(1) Anatomi lutut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lokalisasi +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penyejajaran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60020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(2) Memory bank K1C</a:t>
            </a:r>
          </a:p>
          <a:p>
            <a:pPr algn="ctr"/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bank normal + KL2 + KL3</a:t>
            </a:r>
          </a:p>
          <a:p>
            <a:pPr algn="ctr"/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per </a:t>
            </a:r>
            <a:r>
              <a:rPr sz="1100" b="0" i="0" dirty="0" err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lokasi</a:t>
            </a:r>
            <a:endParaRPr sz="1100" b="0" i="0" dirty="0">
              <a:solidFill>
                <a:srgbClr val="5F5F5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06040" y="278892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(3) Penambangan taji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taji asli dari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pool 150 OA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8892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(4) Sintesis OA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taji + penyempitan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celah, grade 1–4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78892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(5) DRA-OA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kepala S, P, R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(dilatih)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600200"/>
            <a:ext cx="2057400" cy="228600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(6) Fusi skor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rata-rata z(K1C)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 z(DRA-OA)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skor Stage 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02996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48840" y="3337560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4840" y="3337560"/>
            <a:ext cx="32004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3337560"/>
            <a:ext cx="32004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32520" y="3337560"/>
            <a:ext cx="41148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2029968"/>
            <a:ext cx="43434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STAGE 1  ·  skor anomali awal (kode usulan)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1605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STAGE 2 – 3  ·  main.py Belton (tidak diubah, --train_ss 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5720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Skor Stage 1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10 seed, format file Belton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5720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Stage 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pseudo-label dari skor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+ filter CLIP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5720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Stage 3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DCRL iterasi 1 → 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+ prediktor parah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45720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skor keparahan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68128" y="3886200"/>
            <a:ext cx="0" cy="155448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86000" y="4041648"/>
            <a:ext cx="7882128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4041648"/>
            <a:ext cx="0" cy="530352"/>
          </a:xfrm>
          <a:prstGeom prst="line">
            <a:avLst/>
          </a:prstGeom>
          <a:ln w="19050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74720" y="509320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309360" y="509320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509320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Data dan label yang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dipakai</a:t>
            </a:r>
            <a:endParaRPr sz="2400" b="0" i="0" dirty="0">
              <a:solidFill>
                <a:srgbClr val="111111"/>
              </a:solidFill>
              <a:latin typeface="Heebo Bold"/>
              <a:ea typeface="Heebo Bold"/>
              <a:cs typeface="Heebo Bold"/>
            </a:endParaRPr>
          </a:p>
        </p:txBody>
      </p:sp>
      <p:pic>
        <p:nvPicPr>
          <p:cNvPr id="8" name="Picture 7" descr="f01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1102"/>
            <a:ext cx="6766560" cy="28641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23444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3246120" cy="4251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Isi dataset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Radiograf lutut AP, grayscale, 224×224 piksel (dataset Chen/OAI).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Folder train/ val/ test/, subfolder 0–4 = grade KL.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Nama file berakhiran L/R = lutut kiri/kanan; dipakai untuk menentukan sisi medial.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Label per seed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30 KL0 dari daftar Belton (meta/train_seed_&lt;seed&gt;.csv).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30 OA: 15 KL2 + 15 KL3 dari pool 150 OA (make_oa_pool.py).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 seed Belton: 1001, 138647, 193, 34, 44, 71530, 875688, 8765, 985772, 244959.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67665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Kenapa KL? </a:t>
            </a: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Skala Kellgren–Lawrence dinilai dari dua tanda: penyempitan celah sendi (JSN) dan osteofit (taji tulang) di tepi sendi. Seluruh metode diarahkan untuk melihat dua tanda 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Filter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lembah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: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menyorot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celah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sendi</a:t>
            </a:r>
            <a:endParaRPr sz="2400" b="0" i="0" dirty="0">
              <a:solidFill>
                <a:srgbClr val="111111"/>
              </a:solidFill>
              <a:latin typeface="Heebo Bold"/>
              <a:ea typeface="Heebo Bold"/>
              <a:cs typeface="Heebo Bold"/>
            </a:endParaRPr>
          </a:p>
        </p:txBody>
      </p:sp>
      <p:pic>
        <p:nvPicPr>
          <p:cNvPr id="8" name="Picture 7" descr="f03_val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5216"/>
            <a:ext cx="10652760" cy="30531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7200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5029200" cy="10058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Ide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Celah sendi = pita gelap mendatar di antara femur dan tibia yang terang. Dilihat dari atas ke bawah, intensitasnya membentuk "lembah", dan lembah memberi turunan kedua yang positif besar.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7200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11E952-DF10-9CC6-7579-4D7398E4E66A}"/>
                  </a:ext>
                </a:extLst>
              </p:cNvPr>
              <p:cNvSpPr txBox="1"/>
              <p:nvPr/>
            </p:nvSpPr>
            <p:spPr>
              <a:xfrm>
                <a:off x="6591719" y="4817036"/>
                <a:ext cx="3949002" cy="880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D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D" i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D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1.5,2.5,3.5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f>
                        <m:f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11E952-DF10-9CC6-7579-4D7398E4E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719" y="4817036"/>
                <a:ext cx="3949002" cy="8801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Langkah 3 · Dynamic programming: menarik garis sendi</a:t>
            </a:r>
          </a:p>
        </p:txBody>
      </p:sp>
      <p:pic>
        <p:nvPicPr>
          <p:cNvPr id="8" name="Picture 7" descr="f04_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8484"/>
            <a:ext cx="6675120" cy="26894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188720"/>
            <a:ext cx="3749039" cy="31089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325880"/>
            <a:ext cx="3383279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Cara kerja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Dicari satu jalur kiri → kanan yang melewati nilai R sebesar mungkin.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Tiap kolom hanya boleh naik/turun maks. 1 piksel.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Setiap belokan dikurangi penalti λ = 0.08.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Jalur awal dicari selebar gambar (kolom 4–220) untuk memperkirakan baris sendi.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0652760" cy="13258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" y="5269487"/>
            <a:ext cx="10287000" cy="660364"/>
          </a:xfrm>
          <a:prstGeom prst="rect">
            <a:avLst/>
          </a:prstGeom>
          <a:noFill/>
        </p:spPr>
        <p:txBody>
          <a:bodyPr wrap="square" lIns="101600" tIns="50800" rIns="101600" bIns="50800" anchor="t"/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Baris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terbesar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di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kolom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terakhir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dipilih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lalu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jalur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dirunut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balik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Hasilnya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garis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halus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mengikuti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lengkung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plateau tibia,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meloncat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karena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noise.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F160B5-74DA-B45A-D1FA-9C69119BD6C4}"/>
                  </a:ext>
                </a:extLst>
              </p:cNvPr>
              <p:cNvSpPr txBox="1"/>
              <p:nvPr/>
            </p:nvSpPr>
            <p:spPr>
              <a:xfrm>
                <a:off x="2280975" y="4752481"/>
                <a:ext cx="6660606" cy="67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D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D" i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D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−1,0,1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ID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D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F160B5-74DA-B45A-D1FA-9C69119BD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75" y="4752481"/>
                <a:ext cx="6660606" cy="670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Tepi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tulang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kiri dan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kanan</a:t>
            </a:r>
            <a:endParaRPr sz="2400" b="0" i="0" dirty="0">
              <a:solidFill>
                <a:srgbClr val="111111"/>
              </a:solidFill>
              <a:latin typeface="Heebo Bold"/>
              <a:ea typeface="Heebo Bold"/>
              <a:cs typeface="Heebo Bold"/>
            </a:endParaRPr>
          </a:p>
        </p:txBody>
      </p:sp>
      <p:pic>
        <p:nvPicPr>
          <p:cNvPr id="8" name="Picture 7" descr="f05_ed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835" y="1188720"/>
            <a:ext cx="8460368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6177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1. Pita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Femur: baris yc−30 s.d. yc−6. Tibia: yc+6 s.d. yc+30 (yc = median garis sendi awal).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61772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47548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2. Profil &amp; gradien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Intensitas dirata-rata per kolom, dihaluskan (σ = 2), lalu diturunkan.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6177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47548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3. Tepi terluar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Gradien pertama dari batas gambar yang ≥ maks(0.012, 0.5×terkuat). Tidak ada → batas gambar +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Garis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sendi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final,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kontur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femur &amp; tibia, JSW</a:t>
            </a:r>
          </a:p>
        </p:txBody>
      </p:sp>
      <p:pic>
        <p:nvPicPr>
          <p:cNvPr id="8" name="Picture 7" descr="f06_cont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840" y="1188720"/>
            <a:ext cx="8542358" cy="3337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66344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DP ulang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Garis sendi dicari ulang hanya di antara tepi tulang, supaya tidak terseret jaringan lunak.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663440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48006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Kontur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Femur: −∂I/∂y terbesar 0–14 px di atas garis. Tibia: +∂I/∂y terbesar di bawahnya. Juga dengan DP (penalti 0.15).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663440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4800600"/>
            <a:ext cx="3017520" cy="274320"/>
          </a:xfrm>
          <a:prstGeom prst="rect">
            <a:avLst/>
          </a:prstGeom>
          <a:noFill/>
        </p:spPr>
        <p:txBody>
          <a:bodyPr wrap="square" lIns="101600" tIns="50800" rIns="101600" bIns="5080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JSW per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kolom</a:t>
            </a:r>
            <a:endParaRPr sz="13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FA2BEF-9929-CFDC-7F81-33A91C3460E3}"/>
                  </a:ext>
                </a:extLst>
              </p:cNvPr>
              <p:cNvSpPr txBox="1"/>
              <p:nvPr/>
            </p:nvSpPr>
            <p:spPr>
              <a:xfrm>
                <a:off x="7883889" y="5277108"/>
                <a:ext cx="3317511" cy="297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JSW</m:t>
                          </m:r>
                        </m:fName>
                        <m:e>
                          <m:d>
                            <m:d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D" i="0">
                              <a:latin typeface="Cambria Math" panose="02040503050406030204" pitchFamily="18" charset="0"/>
                            </a:rPr>
                            <m:t>tibia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D" i="0">
                              <a:latin typeface="Cambria Math" panose="02040503050406030204" pitchFamily="18" charset="0"/>
                            </a:rPr>
                            <m:t>femur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FA2BEF-9929-CFDC-7F81-33A91C346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89" y="5277108"/>
                <a:ext cx="3317511" cy="297389"/>
              </a:xfrm>
              <a:prstGeom prst="rect">
                <a:avLst/>
              </a:prstGeom>
              <a:blipFill>
                <a:blip r:embed="rId4"/>
                <a:stretch>
                  <a:fillRect l="-1835" b="-291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Pembagi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medial/lateral dan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sisi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medial</a:t>
            </a:r>
          </a:p>
        </p:txBody>
      </p:sp>
      <p:pic>
        <p:nvPicPr>
          <p:cNvPr id="8" name="Picture 7" descr="f07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225" y="1188719"/>
            <a:ext cx="9103589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6177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Puncak tibial spine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Garis sendi dihaluskan (σ = 4). Di 30–70% lebar dicari titik tertinggi (toleransi 2 px). x_center = median kolom-kolom itu. Punuk &lt; 4 px → flag no_hump.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6177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475488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Sisi medial dari nama file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Gambar dataset tidak dicerminkan: lutut R → medial di kanan gambar, lutut L → medial di kiri. Dicek: celah lateral KL0 lebih lebar dari medial (12.0 vs 8.6 px).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JSW per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kompartemen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, 4 ROI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tepi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sendi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,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sudut</a:t>
            </a:r>
            <a:endParaRPr sz="2400" b="0" i="0" dirty="0">
              <a:solidFill>
                <a:srgbClr val="111111"/>
              </a:solidFill>
              <a:latin typeface="Heebo Bold"/>
              <a:ea typeface="Heebo Bold"/>
              <a:cs typeface="Heebo Bold"/>
            </a:endParaRPr>
          </a:p>
        </p:txBody>
      </p:sp>
      <p:pic>
        <p:nvPicPr>
          <p:cNvPr id="8" name="Picture 7" descr="f08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57200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49240" y="1188720"/>
            <a:ext cx="5852160" cy="205740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1325880"/>
            <a:ext cx="5486400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diukur</a:t>
            </a:r>
            <a:endParaRPr sz="13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JSW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kompartemen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bagian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20–80%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kompartemen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 min =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persentil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10, juga rata-rata.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ROI 40×28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px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di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tempat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osteofit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tumbuh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14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px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keluar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tepi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tulang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26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px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dalam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kotak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femur di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atas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garis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sendi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tibia di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bawahnya</a:t>
            </a:r>
            <a:r>
              <a:rPr lang="en-US" sz="12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  <a:endParaRPr sz="1200" b="0" i="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71684"/>
              </p:ext>
            </p:extLst>
          </p:nvPr>
        </p:nvGraphicFramePr>
        <p:xfrm>
          <a:off x="5349240" y="3373448"/>
          <a:ext cx="5852160" cy="2368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Hasil untuk contoh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Nilai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Tepi sendi xl / xr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/ 201 px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Ujung garis sendi yL / 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140 / 129 px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Pembagi x_center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111 px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Sisi medial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kanan (lutut 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JSW medial / lateral (min)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8.0 / 14.0 px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Sudut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garis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sendi</a:t>
                      </a:r>
                      <a:endParaRPr sz="1200" b="0" i="0" dirty="0">
                        <a:solidFill>
                          <a:srgbClr val="22222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−3.2°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31BF18-BF98-A42B-9C75-CBF192461C3E}"/>
                  </a:ext>
                </a:extLst>
              </p:cNvPr>
              <p:cNvSpPr txBox="1"/>
              <p:nvPr/>
            </p:nvSpPr>
            <p:spPr>
              <a:xfrm>
                <a:off x="5532120" y="2602575"/>
                <a:ext cx="312399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D" dirty="0" err="1"/>
                  <a:t>Sudut</a:t>
                </a:r>
                <a14:m>
                  <m:oMath xmlns:m="http://schemas.openxmlformats.org/officeDocument/2006/math">
                    <m:r>
                      <a:rPr lang="en-ID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D" i="1">
                            <a:latin typeface="Cambria Math" panose="02040503050406030204" pitchFamily="18" charset="0"/>
                          </a:rPr>
                          <m:t>atan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2</m:t>
                        </m:r>
                      </m:fName>
                      <m:e>
                        <m:d>
                          <m:d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31BF18-BF98-A42B-9C75-CBF192461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20" y="2602575"/>
                <a:ext cx="3123997" cy="553998"/>
              </a:xfrm>
              <a:prstGeom prst="rect">
                <a:avLst/>
              </a:prstGeom>
              <a:blipFill>
                <a:blip r:embed="rId4"/>
                <a:stretch>
                  <a:fillRect l="-4688" t="-14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4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operasi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menuju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kerangka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kanonik</a:t>
            </a:r>
            <a:endParaRPr sz="2400" b="0" i="0" dirty="0">
              <a:solidFill>
                <a:srgbClr val="111111"/>
              </a:solidFill>
              <a:latin typeface="Heebo Bold"/>
              <a:ea typeface="Heebo Bold"/>
              <a:cs typeface="Heebo Bold"/>
            </a:endParaRPr>
          </a:p>
        </p:txBody>
      </p:sp>
      <p:pic>
        <p:nvPicPr>
          <p:cNvPr id="8" name="Picture 7" descr="f11_align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5619"/>
            <a:ext cx="10652760" cy="251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97680"/>
            <a:ext cx="2532888" cy="15544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216712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1. Flip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Lutut R dicerminkan: x → 223 − x. Medial selalu di kiri.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4297680"/>
            <a:ext cx="2532888" cy="15544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4434840"/>
            <a:ext cx="2167128" cy="343637"/>
          </a:xfrm>
          <a:prstGeom prst="rect">
            <a:avLst/>
          </a:prstGeom>
          <a:noFill/>
        </p:spPr>
        <p:txBody>
          <a:bodyPr wrap="square" lIns="101600" tIns="50800" rIns="101600" bIns="5080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Rotasi</a:t>
            </a:r>
            <a:endParaRPr sz="13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80176" y="4297680"/>
            <a:ext cx="2532888" cy="15544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434840"/>
            <a:ext cx="216712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3. Geser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Ujung-ujung garis sendi dipindah ke baris 133.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44" y="4297680"/>
            <a:ext cx="2532888" cy="15544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78824" y="4434840"/>
            <a:ext cx="216712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4.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Regang</a:t>
            </a:r>
            <a:endParaRPr sz="13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400"/>
              </a:spcAft>
            </a:pP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Regangan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horizontal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sepotong-sepotong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pembagi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kolom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112,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tepi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0 dan 223 </a:t>
            </a:r>
            <a:r>
              <a:rPr sz="12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2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E90401-3FF8-C0B4-947A-CB9F1AF3E735}"/>
                  </a:ext>
                </a:extLst>
              </p:cNvPr>
              <p:cNvSpPr txBox="1"/>
              <p:nvPr/>
            </p:nvSpPr>
            <p:spPr>
              <a:xfrm>
                <a:off x="3264408" y="4811719"/>
                <a:ext cx="2330086" cy="10071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𝐷𝑖𝑝𝑢𝑡𝑎𝑟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D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𝑑𝑖𝑠𝑒𝑘𝑖𝑡𝑎𝑟</m:t>
                      </m:r>
                      <m:r>
                        <a:rPr lang="en-ID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𝑡𝑒𝑛𝑔𝑎ℎ</m:t>
                      </m:r>
                      <m:r>
                        <a:rPr lang="en-ID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𝑢𝑗𝑢𝑛𝑔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𝑢𝑗𝑢𝑛𝑔</m:t>
                      </m:r>
                      <m:r>
                        <a:rPr lang="en-ID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𝑔𝑎𝑟𝑖𝑠</m:t>
                      </m:r>
                      <m:r>
                        <a:rPr lang="en-ID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𝑠𝑒𝑛𝑑𝑖</m:t>
                      </m:r>
                      <m:r>
                        <a:rPr lang="en-ID" sz="1200" i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12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D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D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sz="1200" i="1">
                              <a:latin typeface="Cambria Math" panose="02040503050406030204" pitchFamily="18" charset="0"/>
                            </a:rPr>
                            <m:t>atan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fName>
                        <m:e>
                          <m:d>
                            <m:dPr>
                              <m:ctrlPr>
                                <a:rPr lang="en-ID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ID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ID" sz="1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ID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D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ID" sz="1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200" dirty="0"/>
              </a:p>
              <a:p>
                <a:endParaRPr lang="en-ID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E90401-3FF8-C0B4-947A-CB9F1AF3E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408" y="4811719"/>
                <a:ext cx="2330086" cy="1007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Hasil penyejajaran: semua lutut di posisi yang sama</a:t>
            </a:r>
          </a:p>
        </p:txBody>
      </p:sp>
      <p:pic>
        <p:nvPicPr>
          <p:cNvPr id="8" name="Picture 7" descr="f13_aligned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271143"/>
            <a:ext cx="10652760" cy="36756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749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B4F9C"/>
                </a:solidFill>
                <a:latin typeface="Heebo Bold"/>
                <a:ea typeface="Heebo Bold"/>
                <a:cs typeface="Heebo Bold"/>
              </a:rPr>
              <a:t>22 /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gambar di-flip (semua lutut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50749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B4F9C"/>
                </a:solidFill>
                <a:latin typeface="Heebo Bold"/>
                <a:ea typeface="Heebo Bold"/>
                <a:cs typeface="Heebo Bold"/>
              </a:rPr>
              <a:t>±0.5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5321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residu garis sendi (SD)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749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B4F9C"/>
                </a:solidFill>
                <a:latin typeface="Heebo Bold"/>
                <a:ea typeface="Heebo Bold"/>
                <a:cs typeface="Heebo Bold"/>
              </a:rPr>
              <a:t>0.92 → 1.11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321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kontras celah gambar rata-rata (+21%)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Fitur patch: WideResNet-50, grid 28×28</a:t>
            </a:r>
          </a:p>
        </p:txBody>
      </p:sp>
      <p:pic>
        <p:nvPicPr>
          <p:cNvPr id="8" name="Picture 7" descr="f14_patch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51" y="1188719"/>
            <a:ext cx="6275697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Input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224×224, 3 kanal,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normalisasi ImageNet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975104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layer2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512 × 28×28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5168" y="1865376"/>
            <a:ext cx="0" cy="10972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761488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layer3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1024 × 14×14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→ upsample 28×28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45168" y="2651760"/>
            <a:ext cx="0" cy="10972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79" y="3547872"/>
            <a:ext cx="3703320" cy="676656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Gabung + pool 3×3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1536 → proyeksi 1024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45168" y="3438144"/>
            <a:ext cx="0" cy="10972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43484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2870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Hasil: </a:t>
            </a: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satu gambar menjadi 28×28 = 784 patch. Tiap patch mewakili sekitar 8×8 piksel dan berupa vektor 1024 dimensi. Bobot ImageNet dipakai apa adanya: tidak ada training atau epoch di modul ini.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Catatan: </a:t>
            </a: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peta fitur dan peta skor nyata tidak bisa dibuat di sesi ini (bobot pretrained tidak bisa diunduh), jadi slide Modul 2 memakai gambar tersejajar asli untuk menunjukkan lokasi patch.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Skor grade per patch (mode expected)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663440" cy="1828799"/>
          </a:xfrm>
          <a:prstGeom prst="rect">
            <a:avLst/>
          </a:prstGeom>
          <a:noFill/>
        </p:spPr>
        <p:txBody>
          <a:bodyPr wrap="square" lIns="101600" tIns="50800" rIns="101600" bIns="50800" anchor="t"/>
          <a:lstStyle/>
          <a:p>
            <a:pPr algn="l">
              <a:spcAft>
                <a:spcPts val="600"/>
              </a:spcAft>
            </a:pPr>
            <a:r>
              <a:rPr sz="14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Rumus</a:t>
            </a:r>
            <a:endParaRPr sz="14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500"/>
              </a:spcBef>
              <a:spcAft>
                <a:spcPts val="700"/>
              </a:spcAft>
            </a:pPr>
            <a:endParaRPr lang="en-US" sz="1700" dirty="0">
              <a:solidFill>
                <a:srgbClr val="14304E"/>
              </a:solidFill>
              <a:latin typeface="Cambria Math"/>
              <a:ea typeface="Consolas"/>
              <a:cs typeface="Consolas"/>
            </a:endParaRPr>
          </a:p>
          <a:p>
            <a:pPr algn="ctr">
              <a:spcBef>
                <a:spcPts val="500"/>
              </a:spcBef>
              <a:spcAft>
                <a:spcPts val="700"/>
              </a:spcAft>
            </a:pPr>
            <a:endParaRPr sz="1700" b="0" i="0" dirty="0">
              <a:solidFill>
                <a:srgbClr val="14304E"/>
              </a:solidFill>
              <a:latin typeface="Cambria Math"/>
              <a:ea typeface="Consolas"/>
              <a:cs typeface="Consolas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τ = 0.1 × rata-rata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jarak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di patch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itu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bebas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skala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). Patch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tanpa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referensi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OA (di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luar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pita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sendi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diberi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skor</a:t>
            </a:r>
            <a:r>
              <a:rPr sz="13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029200" cy="2377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Arti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Mirip normal → mendekati 0.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Mirip KL2 → mendekati 2; mirip KL3 → mendekati 3.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Jadi tiap patch mendapat perkiraan grade KL, bukan hanya "normal atau tidak". Ini yang diharapkan menaikkan SRC.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1887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Contoh perhitungan (angka ilustrasi)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897880" y="1645920"/>
          <a:ext cx="5303520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Bank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Jarak terdekat d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−d / τ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Bobot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Normal (g = 0)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4.0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−10.0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0.075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KL2 (g = 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−7.5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KL3 (g = 3)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5.0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−12.5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0.006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897880" y="33375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3474720"/>
            <a:ext cx="4937759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τ = 0.4  →  skor = 0×0.075 + 2×0.918 + 3×0.006 ≈ 1.86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Patch ini paling mirip KL2, jadi perkiraan grade-nya mendekati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6177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4754880"/>
            <a:ext cx="493775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Patch normal (d₀ = 2, d₂ = 4, d₃ = 5) → skor ≈ 0.00.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Hasil per gambar: peta 28×28 skor grade (maps_&lt;split&gt;.npz).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C4C8D-4A46-4535-7CF1-14BA7EF14797}"/>
                  </a:ext>
                </a:extLst>
              </p:cNvPr>
              <p:cNvSpPr txBox="1"/>
              <p:nvPr/>
            </p:nvSpPr>
            <p:spPr>
              <a:xfrm>
                <a:off x="1001682" y="1655696"/>
                <a:ext cx="4123115" cy="724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D" i="0" smtClean="0">
                          <a:latin typeface="Cambria Math" panose="02040503050406030204" pitchFamily="18" charset="0"/>
                        </a:rPr>
                        <m:t>skor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func>
                            <m:func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D" i="1">
                                  <a:latin typeface="Cambria Math" panose="02040503050406030204" pitchFamily="18" charset="0"/>
                                </a:rPr>
                                <m:t>softmax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D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D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D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D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D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ID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ID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0,2,3</m:t>
                          </m:r>
                        </m:e>
                      </m:d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C4C8D-4A46-4535-7CF1-14BA7EF1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82" y="1655696"/>
                <a:ext cx="4123115" cy="724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Dari peta 28×28 ke satu skor per gambar</a:t>
            </a:r>
          </a:p>
        </p:txBody>
      </p:sp>
      <p:pic>
        <p:nvPicPr>
          <p:cNvPr id="8" name="Picture 7" descr="f16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225538"/>
            <a:ext cx="6949440" cy="244096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40480"/>
          <a:ext cx="694944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Region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Agregasi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Keterangan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/ joint_band / margins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max / top3 / mean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× 3 = 9 kombinasi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Dipilih di 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pilih = (AUC_KL + SRC) /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rata-rata 10 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26679" y="1188720"/>
            <a:ext cx="3474720" cy="46634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59" y="1325880"/>
            <a:ext cx="3108960" cy="4389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Langkah berikutnya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Kombinasi terpilih disimpan di keputusan_k1.json.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Skor tiap seed dinormalisasi z-score memakai mean/SD skor VAL seed itu.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Split train juga diskor (untuk Stage 2 Belton) dengan leave-one-out per pasien: gambar bank dari pasien yang sama (lutut L &amp; R) diabaikan, supaya tidak "menemukan dirinya sendiri".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Skor test/train K1C tidak dievaluasi sendiri (--hanya_val 1); dipakai untuk fusi.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Kuning = patch yang dipakai. joint_band: ±32 px dari baris sendi; margins: 4 ROI + 8 px.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Penambangan taji dari pool 150 OA</a:t>
            </a:r>
          </a:p>
        </p:txBody>
      </p:sp>
      <p:pic>
        <p:nvPicPr>
          <p:cNvPr id="8" name="Picture 7" descr="f17_roi_c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75" y="1121664"/>
            <a:ext cx="4824125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57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Potongan 4 ROI tepi sendi pada radiograf OA asli: tempat taji dicari (bukan hasil tambang).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188720"/>
            <a:ext cx="502920" cy="5486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52144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Peta skor per patch untuk tiap gambar pool OA (mesin dual global C, leave-one-out per pasien).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47088"/>
            <a:ext cx="502920" cy="5486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10512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 tiap ROI diambil sel dengan skor tertinggi.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505456"/>
            <a:ext cx="502920" cy="5486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Kandidat bila skornya &gt; persentil 90 skor ROI yang sama pada lutut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163824"/>
            <a:ext cx="502920" cy="5486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27248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Aturan kandidat_tonjol: tonjolan tulang melewati tepi &gt; median lutut normal.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822191"/>
            <a:ext cx="502920" cy="5486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85615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Disimpan potongan 32×32 + posisi relatif ke tepi tulang &amp; garis sendi.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52160" y="4572000"/>
          <a:ext cx="534923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Hasil run-mu (bank_bersih)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medial fem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medial tib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lateral fem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lateral tib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46 taji dari 34 gambar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52160" y="544068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KL2 = 28, KL3 = 18. Medial lebih banyak, sesuai pola OA lutut.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Sintesis OA: dua tanda KL ditempel ke lutut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754879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(a) Taji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asli</a:t>
            </a:r>
            <a:endParaRPr sz="13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Taji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bank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ditempel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di ROI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anatomi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medial_fem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medial_fem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), pada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posisi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relatif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terhadap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tepi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tulang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dan garis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sendi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dicerminkan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bila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sisinya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beda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Ditempel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Poisson blending;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tempelan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menggelapkan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tulang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ditolak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5120640" cy="2331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754879" cy="205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(b)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Penyempitan</a:t>
            </a: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celah</a:t>
            </a: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 (JSN)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Celah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satu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kompartemen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biasanya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medial,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kadang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lateral)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dipersempit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warp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vertikal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halus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mengikuti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kontur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femur dan tibia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Modul 1: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tulang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digeser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= frac × JSW/2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arah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garis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sendi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meluruh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halus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menjauhi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celah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Dikerjakan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taji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ditempel</a:t>
            </a:r>
            <a:r>
              <a:rPr sz="14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97880" y="1188720"/>
          <a:ext cx="530352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Grade sintetis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Taji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Skala taji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JSN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P(lateral)</a:t>
                      </a:r>
                    </a:p>
                  </a:txBody>
                  <a:tcPr marL="54864" marR="54864" marT="27432" marB="2743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 (~KL1)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 samar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0.7–0.9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(~KL2)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0.9–1.1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0–15%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(~KL3)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1.0–1.25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25–45%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solidFill>
                      <a:srgbClr val="F2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 (~KL4)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1.15–1.45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55–80%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897880" y="3520440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3657600"/>
            <a:ext cx="4937759" cy="205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Keluaran</a:t>
            </a:r>
            <a:r>
              <a:rPr sz="16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6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sintesis</a:t>
            </a:r>
            <a:endParaRPr sz="1600" b="1" i="0" dirty="0">
              <a:solidFill>
                <a:srgbClr val="0B4F9C"/>
              </a:solidFill>
              <a:latin typeface="Calibri"/>
              <a:ea typeface="Calibri"/>
              <a:cs typeface="Calibri"/>
            </a:endParaRP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Gambar OA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sintetis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Masker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lokasi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lesi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taji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celah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 →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supervisi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per patch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kepala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 di DRA-OA.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Target grade = 1–4.</a:t>
            </a:r>
          </a:p>
          <a:p>
            <a:pPr marL="201168" indent="-182880" algn="l">
              <a:spcAft>
                <a:spcPts val="400"/>
              </a:spcAft>
              <a:buFont typeface="Arial"/>
              <a:buChar char="•"/>
            </a:pP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Hanya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30 normal seed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itu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label </a:t>
            </a:r>
            <a:r>
              <a:rPr sz="1600" b="0" i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baru</a:t>
            </a:r>
            <a:r>
              <a:rPr sz="1600" b="0" i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Contoh nyata penyempitan celah pada lutut normal</a:t>
            </a:r>
          </a:p>
        </p:txBody>
      </p:sp>
      <p:pic>
        <p:nvPicPr>
          <p:cNvPr id="8" name="Picture 7" descr="f18_js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80" y="1188720"/>
            <a:ext cx="7303479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24528"/>
            <a:ext cx="10652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Dibuat dengan fungsi narrow_joint() asli pada KL0/9005075L.png (nilai tengah rentang JSN tiap grade). Merah = masker celah. Contoh taji tidak dibuat karena butuh bank taji (fitur WRN-50).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4526280"/>
          <a:ext cx="585216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29400" y="452628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466344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Validasi: </a:t>
            </a: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JSW medial diukur ulang dengan localize_joint pada 16 lutut KL0/KL1 data_2. Penurunan naik mengikuti grade (run-mu dulu: 0 / 9 / 33 / 56%).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DRA-OA: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tiga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kepala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di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atas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fitur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WRN-50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554480" cy="118872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Gambar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normal / OA asli /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OA sintetis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51460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6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WRN-50</a:t>
            </a:r>
          </a:p>
          <a:p>
            <a:pPr algn="ctr"/>
            <a:r>
              <a:rPr sz="1100" b="0" i="0" dirty="0" err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fitur</a:t>
            </a:r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 28×28×1024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3108960"/>
            <a:ext cx="32004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1188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Kepala S (seen)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30 OA asli vs 30 normal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160520" y="1755648"/>
            <a:ext cx="502920" cy="1353312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32588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peta skor</a:t>
            </a:r>
          </a:p>
          <a:p>
            <a:pPr algn="ctr"/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conv 1×1–3×3–1×1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175564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72600" y="1755648"/>
            <a:ext cx="320040" cy="1353312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0" y="2514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 dirty="0" err="1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Kepala</a:t>
            </a:r>
            <a:r>
              <a:rPr sz="1300" b="1" i="0" dirty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 P (pseudo)</a:t>
            </a:r>
          </a:p>
          <a:p>
            <a:pPr algn="ctr"/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normal + OA </a:t>
            </a:r>
            <a:r>
              <a:rPr sz="1100" b="0" i="0" dirty="0" err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sintetis</a:t>
            </a:r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;</a:t>
            </a:r>
          </a:p>
          <a:p>
            <a:pPr algn="ctr"/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+ </a:t>
            </a:r>
            <a:r>
              <a:rPr sz="1100" b="0" i="0" dirty="0" err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supervisi</a:t>
            </a:r>
            <a:r>
              <a:rPr sz="1100" b="0" i="0" dirty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 masker </a:t>
            </a:r>
            <a:r>
              <a:rPr sz="1100" b="0" i="0" dirty="0" err="1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lesi</a:t>
            </a:r>
            <a:endParaRPr sz="1100" b="0" i="0" dirty="0">
              <a:solidFill>
                <a:srgbClr val="5F5F5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" name="Connector 16"/>
          <p:cNvCxnSpPr/>
          <p:nvPr/>
        </p:nvCxnSpPr>
        <p:spPr>
          <a:xfrm flipV="1">
            <a:off x="4160520" y="3081528"/>
            <a:ext cx="502920" cy="27432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65176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peta skor</a:t>
            </a:r>
          </a:p>
          <a:p>
            <a:pPr algn="ctr"/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conv 1×1–3×3–1×1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308152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3081528"/>
            <a:ext cx="320040" cy="27432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63440" y="38404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  <a:ea typeface="Calibri"/>
                <a:cs typeface="Calibri"/>
              </a:rPr>
              <a:t>Kepala R (residual)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sisa fitur vs patch normal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terdekat (LOO per pasien)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108960"/>
            <a:ext cx="502920" cy="129844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0" y="39776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peta skor</a:t>
            </a:r>
          </a:p>
          <a:p>
            <a:pPr algn="ctr"/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conv 1×1–3×3–1×1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4407408"/>
            <a:ext cx="45720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372600" y="3108960"/>
            <a:ext cx="320040" cy="129844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92640" y="251460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Skor gambar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rata-rata 16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patch tertinggi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28016"/>
            <a:ext cx="1051560" cy="678507"/>
          </a:xfrm>
          <a:prstGeom prst="rect">
            <a:avLst/>
          </a:prstGeom>
        </p:spPr>
      </p:pic>
      <p:sp>
        <p:nvSpPr>
          <p:cNvPr id="3" name="Motif"/>
          <p:cNvSpPr/>
          <p:nvPr/>
        </p:nvSpPr>
        <p:spPr>
          <a:xfrm>
            <a:off x="11338560" y="685800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Motif"/>
          <p:cNvSpPr/>
          <p:nvPr/>
        </p:nvSpPr>
        <p:spPr>
          <a:xfrm>
            <a:off x="685800" y="6007608"/>
            <a:ext cx="164592" cy="16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63040" y="411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Fusi skor dan ekspor ke format Belton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Skor K1C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region:agregasi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terpilih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2588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6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z-score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mean/SD skor VAL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seed itu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1828800"/>
            <a:ext cx="41148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66360" y="1828800"/>
            <a:ext cx="411480" cy="658368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2651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Skor DRA-OA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kandidat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terpilih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51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6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z-score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mean/SD skor VAL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seed itu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154680"/>
            <a:ext cx="411480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166360" y="2487168"/>
            <a:ext cx="411480" cy="667512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77840" y="196596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Fusi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rata-rata,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bobot sama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96596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centre_mean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min-max pada train (0–1)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2487168"/>
            <a:ext cx="411479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39C4149A-4DC4-7A17-96EF-CD30547476C0}"/>
              </a:ext>
            </a:extLst>
          </p:cNvPr>
          <p:cNvSpPr/>
          <p:nvPr/>
        </p:nvSpPr>
        <p:spPr>
          <a:xfrm>
            <a:off x="548640" y="4343399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Skor Stage 1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seed dari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export_belton.py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68E8C961-E377-BF6A-096F-FD81396D296A}"/>
              </a:ext>
            </a:extLst>
          </p:cNvPr>
          <p:cNvSpPr/>
          <p:nvPr/>
        </p:nvSpPr>
        <p:spPr>
          <a:xfrm>
            <a:off x="2715768" y="4343399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Stage 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pseudo-label: margin dicari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sampai tepat 30 gambar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+ filter CLIP</a:t>
            </a:r>
          </a:p>
        </p:txBody>
      </p:sp>
      <p:cxnSp>
        <p:nvCxnSpPr>
          <p:cNvPr id="25" name="Connector 9">
            <a:extLst>
              <a:ext uri="{FF2B5EF4-FFF2-40B4-BE49-F238E27FC236}">
                <a16:creationId xmlns:a16="http://schemas.microsoft.com/office/drawing/2014/main" id="{2B8CBEE7-A12F-D45C-F3C5-513B2BFCA567}"/>
              </a:ext>
            </a:extLst>
          </p:cNvPr>
          <p:cNvCxnSpPr/>
          <p:nvPr/>
        </p:nvCxnSpPr>
        <p:spPr>
          <a:xfrm>
            <a:off x="2423160" y="5074919"/>
            <a:ext cx="292608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CCFA3B12-6D2B-BB72-9054-3E3BE0EFE431}"/>
              </a:ext>
            </a:extLst>
          </p:cNvPr>
          <p:cNvSpPr/>
          <p:nvPr/>
        </p:nvSpPr>
        <p:spPr>
          <a:xfrm>
            <a:off x="4882896" y="4343399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DCRL iterasi 1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10 seed, dilatih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dengan pseudo-label</a:t>
            </a:r>
          </a:p>
        </p:txBody>
      </p:sp>
      <p:cxnSp>
        <p:nvCxnSpPr>
          <p:cNvPr id="27" name="Connector 11">
            <a:extLst>
              <a:ext uri="{FF2B5EF4-FFF2-40B4-BE49-F238E27FC236}">
                <a16:creationId xmlns:a16="http://schemas.microsoft.com/office/drawing/2014/main" id="{73D2302A-599B-CE48-9073-477E2B63D002}"/>
              </a:ext>
            </a:extLst>
          </p:cNvPr>
          <p:cNvCxnSpPr/>
          <p:nvPr/>
        </p:nvCxnSpPr>
        <p:spPr>
          <a:xfrm>
            <a:off x="4590288" y="5074919"/>
            <a:ext cx="292608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E5F8BA8B-71A5-5DAC-0AE0-C9815540965E}"/>
              </a:ext>
            </a:extLst>
          </p:cNvPr>
          <p:cNvSpPr/>
          <p:nvPr/>
        </p:nvSpPr>
        <p:spPr>
          <a:xfrm>
            <a:off x="7050024" y="4343399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F2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DCRL iterasi 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5 seed, pseudo-label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baru dari iterasi 1</a:t>
            </a:r>
          </a:p>
        </p:txBody>
      </p:sp>
      <p:cxnSp>
        <p:nvCxnSpPr>
          <p:cNvPr id="29" name="Connector 13">
            <a:extLst>
              <a:ext uri="{FF2B5EF4-FFF2-40B4-BE49-F238E27FC236}">
                <a16:creationId xmlns:a16="http://schemas.microsoft.com/office/drawing/2014/main" id="{99F1B258-6330-C011-C265-BB75B5AC46CE}"/>
              </a:ext>
            </a:extLst>
          </p:cNvPr>
          <p:cNvCxnSpPr/>
          <p:nvPr/>
        </p:nvCxnSpPr>
        <p:spPr>
          <a:xfrm>
            <a:off x="6757416" y="5074919"/>
            <a:ext cx="292608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14">
            <a:extLst>
              <a:ext uri="{FF2B5EF4-FFF2-40B4-BE49-F238E27FC236}">
                <a16:creationId xmlns:a16="http://schemas.microsoft.com/office/drawing/2014/main" id="{BF369E0F-FF76-AC5D-D953-65824A521B4A}"/>
              </a:ext>
            </a:extLst>
          </p:cNvPr>
          <p:cNvSpPr/>
          <p:nvPr/>
        </p:nvSpPr>
        <p:spPr>
          <a:xfrm>
            <a:off x="9217152" y="4343399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gabungan iterasi 2</a:t>
            </a:r>
          </a:p>
          <a:p>
            <a:pPr algn="ctr"/>
            <a:r>
              <a:rPr sz="1100" b="0" i="0">
                <a:solidFill>
                  <a:srgbClr val="5F5F5F"/>
                </a:solidFill>
                <a:latin typeface="Calibri"/>
                <a:ea typeface="Calibri"/>
                <a:cs typeface="Calibri"/>
              </a:rPr>
              <a:t>+ prediktor parah</a:t>
            </a:r>
          </a:p>
        </p:txBody>
      </p:sp>
      <p:cxnSp>
        <p:nvCxnSpPr>
          <p:cNvPr id="31" name="Connector 15">
            <a:extLst>
              <a:ext uri="{FF2B5EF4-FFF2-40B4-BE49-F238E27FC236}">
                <a16:creationId xmlns:a16="http://schemas.microsoft.com/office/drawing/2014/main" id="{E7974018-5C2B-ACCB-E681-29D9C336D37C}"/>
              </a:ext>
            </a:extLst>
          </p:cNvPr>
          <p:cNvCxnSpPr/>
          <p:nvPr/>
        </p:nvCxnSpPr>
        <p:spPr>
          <a:xfrm>
            <a:off x="8924544" y="5074919"/>
            <a:ext cx="292608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itle">
            <a:extLst>
              <a:ext uri="{FF2B5EF4-FFF2-40B4-BE49-F238E27FC236}">
                <a16:creationId xmlns:a16="http://schemas.microsoft.com/office/drawing/2014/main" id="{E3814EDF-3479-55ED-43EF-67C9FD74752D}"/>
              </a:ext>
            </a:extLst>
          </p:cNvPr>
          <p:cNvSpPr txBox="1"/>
          <p:nvPr/>
        </p:nvSpPr>
        <p:spPr>
          <a:xfrm>
            <a:off x="548639" y="38287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Stage 2 – 3: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dilanjutkan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oleh </a:t>
            </a:r>
            <a:r>
              <a:rPr sz="2400" b="0" i="0" dirty="0" err="1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kode</a:t>
            </a:r>
            <a:r>
              <a:rPr sz="2400" b="0" i="0" dirty="0">
                <a:solidFill>
                  <a:srgbClr val="111111"/>
                </a:solidFill>
                <a:latin typeface="Heebo Bold"/>
                <a:ea typeface="Heebo Bold"/>
                <a:cs typeface="Heebo Bold"/>
              </a:rPr>
              <a:t> Belton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8304E"/>
                </a:solidFill>
                <a:latin typeface="Aptos"/>
              </a:rPr>
              <a:t>Stage 1: hasil usulan vs. Belton et al.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97787"/>
                </a:solidFill>
                <a:latin typeface="Aptos"/>
              </a:rP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04596"/>
              </p:ext>
            </p:extLst>
          </p:nvPr>
        </p:nvGraphicFramePr>
        <p:xfrm>
          <a:off x="502920" y="1572768"/>
          <a:ext cx="11155677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8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</a:rPr>
                        <a:t>Metode /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sumber</a:t>
                      </a:r>
                      <a:endParaRPr sz="14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22860" marB="18288" anchor="ctr"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AUC-KL</a:t>
                      </a:r>
                    </a:p>
                  </a:txBody>
                  <a:tcPr marL="36576" marR="36576" marT="22860" marB="18288" anchor="ctr"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SRC-KL</a:t>
                      </a:r>
                    </a:p>
                  </a:txBody>
                  <a:tcPr marL="36576" marR="36576" marT="22860" marB="18288" anchor="ctr"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AUC-KL&gt;3</a:t>
                      </a:r>
                    </a:p>
                  </a:txBody>
                  <a:tcPr marL="36576" marR="36576" marT="22860" marB="18288" anchor="ctr"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Catatan</a:t>
                      </a:r>
                    </a:p>
                  </a:txBody>
                  <a:tcPr marL="36576" marR="36576" marT="22860" marB="18288" anchor="ctr">
                    <a:solidFill>
                      <a:srgbClr val="18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52F3A"/>
                          </a:solidFill>
                          <a:latin typeface="Aptos"/>
                        </a:rPr>
                        <a:t>PatchCore (paper)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0.646 ± 0.006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0.270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0.891 ± 0.006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Baseline anomaly detection; nilai diambil dari Table 3, p. 7.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52F3A"/>
                          </a:solidFill>
                          <a:latin typeface="Aptos"/>
                        </a:rPr>
                        <a:t>SS-FewSOME tanpa patch (paper)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0.668 ± 0.007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0.315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0.854 ± 0.004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Stage 1; Table 3, p. 7.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52F3A"/>
                          </a:solidFill>
                          <a:latin typeface="Aptos"/>
                        </a:rPr>
                        <a:t>SS-FewSOME + patch (paper)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252F3A"/>
                          </a:solidFill>
                          <a:latin typeface="Aptos"/>
                        </a:rPr>
                        <a:t>0.729 ± 0.010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252F3A"/>
                          </a:solidFill>
                          <a:latin typeface="Aptos"/>
                        </a:rPr>
                        <a:t>0.432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252F3A"/>
                          </a:solidFill>
                          <a:latin typeface="Aptos"/>
                        </a:rPr>
                        <a:t>0.894 ± 0.019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Konfigurasi Stage 1 terbaik di paper; Table 3, p. 7.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USULAN — mean 10 seed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0.7949 ± 0.0165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0.5690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0.9510 ± 0.0091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52F3A"/>
                          </a:solidFill>
                          <a:latin typeface="Aptos"/>
                        </a:rPr>
                        <a:t>Eksperimen pengguna; Stage 1 test.</a:t>
                      </a:r>
                    </a:p>
                  </a:txBody>
                  <a:tcPr marL="36576" marR="36576" marT="22860" marB="18288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USULAN — ensemble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0.8437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0.6580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252F3A"/>
                          </a:solidFill>
                          <a:latin typeface="Aptos"/>
                        </a:rPr>
                        <a:t>0.9704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252F3A"/>
                          </a:solidFill>
                          <a:latin typeface="Aptos"/>
                        </a:rPr>
                        <a:t>CI 95%: AUC-KL 0.824–0.863; SRC 0.625–0.689.</a:t>
                      </a:r>
                    </a:p>
                  </a:txBody>
                  <a:tcPr marL="36576" marR="36576" marT="22860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800600"/>
            <a:ext cx="53035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8304E"/>
                </a:solidFill>
                <a:latin typeface="Aptos"/>
              </a:rPr>
              <a:t>Selisih USULAN (mean 10 seed) terhadap SS-FewSOME + 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521208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7852"/>
                </a:solidFill>
                <a:latin typeface="Aptos"/>
              </a:rPr>
              <a:t>AUC-KL: +0.0659 (+6.59 poin persentase)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7852"/>
                </a:solidFill>
                <a:latin typeface="Aptos"/>
              </a:rPr>
              <a:t>SRC: +0.1370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7852"/>
                </a:solidFill>
                <a:latin typeface="Aptos"/>
              </a:rPr>
              <a:t>AUC-KL&gt;3: +0.0570 (+5.70 poin persentase)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1CFF5-5BDC-FA1F-EE4D-CEDA7E19B145}"/>
              </a:ext>
            </a:extLst>
          </p:cNvPr>
          <p:cNvSpPr txBox="1"/>
          <p:nvPr/>
        </p:nvSpPr>
        <p:spPr>
          <a:xfrm>
            <a:off x="5196840" y="4856288"/>
            <a:ext cx="65074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dirty="0" err="1"/>
              <a:t>Keterangan</a:t>
            </a:r>
            <a:r>
              <a:rPr lang="en-ID" sz="1400" b="1" dirty="0"/>
              <a:t>:</a:t>
            </a:r>
          </a:p>
          <a:p>
            <a:r>
              <a:rPr lang="en-ID" sz="1400" dirty="0"/>
              <a:t>AUC-KL </a:t>
            </a:r>
            <a:r>
              <a:rPr lang="en-ID" sz="1400" dirty="0" err="1"/>
              <a:t>mengukur</a:t>
            </a:r>
            <a:r>
              <a:rPr lang="en-ID" sz="1400" dirty="0"/>
              <a:t> </a:t>
            </a:r>
            <a:r>
              <a:rPr lang="en-ID" sz="1400" dirty="0" err="1"/>
              <a:t>kemampuan</a:t>
            </a:r>
            <a:r>
              <a:rPr lang="en-ID" sz="1400" dirty="0"/>
              <a:t> model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membedakan</a:t>
            </a:r>
            <a:r>
              <a:rPr lang="en-ID" sz="1400" dirty="0"/>
              <a:t> data normal dan </a:t>
            </a:r>
            <a:r>
              <a:rPr lang="en-ID" sz="1400" dirty="0" err="1"/>
              <a:t>anomali</a:t>
            </a:r>
            <a:r>
              <a:rPr lang="en-ID" sz="1400" dirty="0"/>
              <a:t> </a:t>
            </a:r>
            <a:r>
              <a:rPr lang="en-ID" sz="1400" dirty="0" err="1"/>
              <a:t>berdasarkan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evaluasi</a:t>
            </a:r>
            <a:r>
              <a:rPr lang="en-ID" sz="1400" dirty="0"/>
              <a:t> </a:t>
            </a:r>
            <a:r>
              <a:rPr lang="en-ID" sz="1400" dirty="0" err="1"/>
              <a:t>berbasis</a:t>
            </a:r>
            <a:r>
              <a:rPr lang="en-ID" sz="1400" dirty="0"/>
              <a:t> KL. SRC-KL </a:t>
            </a:r>
            <a:r>
              <a:rPr lang="en-ID" sz="1400" dirty="0" err="1"/>
              <a:t>mengukur</a:t>
            </a:r>
            <a:r>
              <a:rPr lang="en-ID" sz="1400" dirty="0"/>
              <a:t> </a:t>
            </a:r>
            <a:r>
              <a:rPr lang="en-ID" sz="1400" dirty="0" err="1"/>
              <a:t>korelasi</a:t>
            </a:r>
            <a:r>
              <a:rPr lang="en-ID" sz="1400" dirty="0"/>
              <a:t> </a:t>
            </a:r>
            <a:r>
              <a:rPr lang="en-ID" sz="1400" dirty="0" err="1"/>
              <a:t>peringkat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model dan </a:t>
            </a:r>
            <a:r>
              <a:rPr lang="en-ID" sz="1400" dirty="0" err="1"/>
              <a:t>nilai</a:t>
            </a:r>
            <a:r>
              <a:rPr lang="en-ID" sz="1400" dirty="0"/>
              <a:t> KL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menunjukkan</a:t>
            </a:r>
            <a:r>
              <a:rPr lang="en-ID" sz="1400" dirty="0"/>
              <a:t> </a:t>
            </a:r>
            <a:r>
              <a:rPr lang="en-ID" sz="1400" dirty="0" err="1"/>
              <a:t>kesesuaian</a:t>
            </a:r>
            <a:r>
              <a:rPr lang="en-ID" sz="1400" dirty="0"/>
              <a:t> </a:t>
            </a:r>
            <a:r>
              <a:rPr lang="en-ID" sz="1400" dirty="0" err="1"/>
              <a:t>urutan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tingkat</a:t>
            </a:r>
            <a:r>
              <a:rPr lang="en-ID" sz="1400" dirty="0"/>
              <a:t> </a:t>
            </a:r>
            <a:r>
              <a:rPr lang="en-ID" sz="1400" dirty="0" err="1"/>
              <a:t>anomali</a:t>
            </a:r>
            <a:r>
              <a:rPr lang="en-ID" sz="1400" dirty="0"/>
              <a:t>. AUC-KL&gt;3 </a:t>
            </a:r>
            <a:r>
              <a:rPr lang="en-ID" sz="1400" dirty="0" err="1"/>
              <a:t>mengukur</a:t>
            </a:r>
            <a:r>
              <a:rPr lang="en-ID" sz="1400" dirty="0"/>
              <a:t> </a:t>
            </a:r>
            <a:r>
              <a:rPr lang="en-ID" sz="1400" dirty="0" err="1"/>
              <a:t>kemampuan</a:t>
            </a:r>
            <a:r>
              <a:rPr lang="en-ID" sz="1400" dirty="0"/>
              <a:t> </a:t>
            </a:r>
            <a:r>
              <a:rPr lang="en-ID" sz="1400" dirty="0" err="1"/>
              <a:t>diskriminasi</a:t>
            </a:r>
            <a:r>
              <a:rPr lang="en-ID" sz="1400" dirty="0"/>
              <a:t> model pada subset data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KL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3.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umum</a:t>
            </a:r>
            <a:r>
              <a:rPr lang="en-ID" sz="1400" dirty="0"/>
              <a:t>, </a:t>
            </a:r>
            <a:r>
              <a:rPr lang="en-ID" sz="1400" dirty="0" err="1"/>
              <a:t>nilai</a:t>
            </a:r>
            <a:r>
              <a:rPr lang="en-ID" sz="1400" dirty="0"/>
              <a:t> yang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 </a:t>
            </a:r>
            <a:r>
              <a:rPr lang="en-ID" sz="1400" dirty="0" err="1"/>
              <a:t>menunjukkan</a:t>
            </a:r>
            <a:r>
              <a:rPr lang="en-ID" sz="1400" dirty="0"/>
              <a:t> </a:t>
            </a:r>
            <a:r>
              <a:rPr lang="en-ID" sz="1400" dirty="0" err="1"/>
              <a:t>performa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baik</a:t>
            </a:r>
            <a:r>
              <a:rPr lang="en-ID" sz="1400" dirty="0"/>
              <a:t> </a:t>
            </a:r>
            <a:r>
              <a:rPr lang="en-ID" sz="1400" dirty="0" err="1"/>
              <a:t>apabila</a:t>
            </a:r>
            <a:r>
              <a:rPr lang="en-ID" sz="1400" dirty="0"/>
              <a:t> </a:t>
            </a:r>
            <a:r>
              <a:rPr lang="en-ID" sz="1400" dirty="0" err="1"/>
              <a:t>ketiga</a:t>
            </a:r>
            <a:r>
              <a:rPr lang="en-ID" sz="1400" dirty="0"/>
              <a:t> </a:t>
            </a:r>
            <a:r>
              <a:rPr lang="en-ID" sz="1400" dirty="0" err="1"/>
              <a:t>metrik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arah</a:t>
            </a:r>
            <a:r>
              <a:rPr lang="en-ID" sz="1400" dirty="0"/>
              <a:t> </a:t>
            </a:r>
            <a:r>
              <a:rPr lang="en-ID" sz="1400" dirty="0" err="1"/>
              <a:t>evaluasi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2261</Words>
  <Application>Microsoft Office PowerPoint</Application>
  <PresentationFormat>Widescreen</PresentationFormat>
  <Paragraphs>348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Consolas</vt:lpstr>
      <vt:lpstr>Heebo Bold</vt:lpstr>
      <vt:lpstr>Helios Extended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Retno Anjarwati</dc:creator>
  <cp:lastModifiedBy>Retno Anjarwati</cp:lastModifiedBy>
  <cp:revision>10</cp:revision>
  <dcterms:created xsi:type="dcterms:W3CDTF">2026-10-05T08:22:42Z</dcterms:created>
  <dcterms:modified xsi:type="dcterms:W3CDTF">2026-10-28T09:47:23Z</dcterms:modified>
</cp:coreProperties>
</file>